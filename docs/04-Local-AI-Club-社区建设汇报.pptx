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83f1d6dd74a7d" /><Relationship Type="http://schemas.openxmlformats.org/officeDocument/2006/relationships/extended-properties" Target="/docProps/app.xml" Id="Rdc6d752b1f2f4fe3" /><Relationship Type="http://schemas.openxmlformats.org/officeDocument/2006/relationships/officeDocument" Target="/ppt/presentation.xml" Id="Rc7e5fd47662d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e96da7f8a64192"/>
  </p:sldMasterIdLst>
  <p:notesMasterIdLst>
    <p:notesMasterId xmlns:r="http://schemas.openxmlformats.org/officeDocument/2006/relationships" r:id="Re47f2843b7d54f46"/>
  </p:notesMasterIdLst>
  <p:sldIdLst>
    <p:sldId xmlns:r="http://schemas.openxmlformats.org/officeDocument/2006/relationships" id="256" r:id="R85f07738d7ff433e"/>
    <p:sldId xmlns:r="http://schemas.openxmlformats.org/officeDocument/2006/relationships" id="257" r:id="R398a8bb3881a46f6"/>
    <p:sldId xmlns:r="http://schemas.openxmlformats.org/officeDocument/2006/relationships" id="258" r:id="Rea81ea5fa81f4b36"/>
    <p:sldId xmlns:r="http://schemas.openxmlformats.org/officeDocument/2006/relationships" id="259" r:id="R235b05158c0943dc"/>
    <p:sldId xmlns:r="http://schemas.openxmlformats.org/officeDocument/2006/relationships" id="260" r:id="R890c4f023a634d25"/>
    <p:sldId xmlns:r="http://schemas.openxmlformats.org/officeDocument/2006/relationships" id="261" r:id="R71b05a7b112c4c1a"/>
    <p:sldId xmlns:r="http://schemas.openxmlformats.org/officeDocument/2006/relationships" id="262" r:id="Rd25d2acf911f4e4d"/>
    <p:sldId xmlns:r="http://schemas.openxmlformats.org/officeDocument/2006/relationships" id="263" r:id="Ref753146c258453b"/>
    <p:sldId xmlns:r="http://schemas.openxmlformats.org/officeDocument/2006/relationships" id="264" r:id="R29a3a39ce34c462d"/>
    <p:sldId xmlns:r="http://schemas.openxmlformats.org/officeDocument/2006/relationships" id="265" r:id="R95211088c48d441d"/>
    <p:sldId xmlns:r="http://schemas.openxmlformats.org/officeDocument/2006/relationships" id="266" r:id="R46d33fdcb7844bab"/>
    <p:sldId xmlns:r="http://schemas.openxmlformats.org/officeDocument/2006/relationships" id="267" r:id="R79002980d83c4736"/>
    <p:sldId xmlns:r="http://schemas.openxmlformats.org/officeDocument/2006/relationships" id="268" r:id="Rd1f2af56eb4d46e0"/>
    <p:sldId xmlns:r="http://schemas.openxmlformats.org/officeDocument/2006/relationships" id="269" r:id="R417287ebff144daf"/>
    <p:sldId xmlns:r="http://schemas.openxmlformats.org/officeDocument/2006/relationships" id="270" r:id="R67dee7da58d24c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d38e52e4f43ba" /><Relationship Type="http://schemas.openxmlformats.org/officeDocument/2006/relationships/slideMaster" Target="/ppt/slideMasters/slideMaster1.xml" Id="R75e96da7f8a64192" /><Relationship Type="http://schemas.openxmlformats.org/officeDocument/2006/relationships/notesMaster" Target="/ppt/notesMasters/notesMaster1.xml" Id="Re47f2843b7d54f46" /><Relationship Type="http://schemas.openxmlformats.org/officeDocument/2006/relationships/presProps" Target="/ppt/presProps.xml" Id="Ra699bd0d6b464c7d" /><Relationship Type="http://schemas.openxmlformats.org/officeDocument/2006/relationships/tableStyles" Target="/ppt/tableStyles.xml" Id="R3b0f23b63c2243a4" /><Relationship Type="http://schemas.openxmlformats.org/officeDocument/2006/relationships/slide" Target="/ppt/slides/slide1.xml" Id="R85f07738d7ff433e" /><Relationship Type="http://schemas.openxmlformats.org/officeDocument/2006/relationships/slide" Target="/ppt/slides/slide2.xml" Id="R398a8bb3881a46f6" /><Relationship Type="http://schemas.openxmlformats.org/officeDocument/2006/relationships/slide" Target="/ppt/slides/slide3.xml" Id="Rea81ea5fa81f4b36" /><Relationship Type="http://schemas.openxmlformats.org/officeDocument/2006/relationships/slide" Target="/ppt/slides/slide4.xml" Id="R235b05158c0943dc" /><Relationship Type="http://schemas.openxmlformats.org/officeDocument/2006/relationships/slide" Target="/ppt/slides/slide5.xml" Id="R890c4f023a634d25" /><Relationship Type="http://schemas.openxmlformats.org/officeDocument/2006/relationships/slide" Target="/ppt/slides/slide6.xml" Id="R71b05a7b112c4c1a" /><Relationship Type="http://schemas.openxmlformats.org/officeDocument/2006/relationships/slide" Target="/ppt/slides/slide7.xml" Id="Rd25d2acf911f4e4d" /><Relationship Type="http://schemas.openxmlformats.org/officeDocument/2006/relationships/slide" Target="/ppt/slides/slide8.xml" Id="Ref753146c258453b" /><Relationship Type="http://schemas.openxmlformats.org/officeDocument/2006/relationships/slide" Target="/ppt/slides/slide9.xml" Id="R29a3a39ce34c462d" /><Relationship Type="http://schemas.openxmlformats.org/officeDocument/2006/relationships/slide" Target="/ppt/slides/slide10.xml" Id="R95211088c48d441d" /><Relationship Type="http://schemas.openxmlformats.org/officeDocument/2006/relationships/slide" Target="/ppt/slides/slide11.xml" Id="R46d33fdcb7844bab" /><Relationship Type="http://schemas.openxmlformats.org/officeDocument/2006/relationships/slide" Target="/ppt/slides/slide12.xml" Id="R79002980d83c4736" /><Relationship Type="http://schemas.openxmlformats.org/officeDocument/2006/relationships/slide" Target="/ppt/slides/slide13.xml" Id="Rd1f2af56eb4d46e0" /><Relationship Type="http://schemas.openxmlformats.org/officeDocument/2006/relationships/slide" Target="/ppt/slides/slide14.xml" Id="R417287ebff144daf" /><Relationship Type="http://schemas.openxmlformats.org/officeDocument/2006/relationships/slide" Target="/ppt/slides/slide15.xml" Id="R67dee7da58d2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80bc2d6282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c18e2a9134835" /><Relationship Type="http://schemas.openxmlformats.org/officeDocument/2006/relationships/notesMaster" Target="/ppt/notesMasters/notesMaster1.xml" Id="Rc0ca2f85205645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532fc72cc44bc" /><Relationship Type="http://schemas.openxmlformats.org/officeDocument/2006/relationships/notesMaster" Target="/ppt/notesMasters/notesMaster1.xml" Id="R831afd072e9b48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7003fc5094f28" /><Relationship Type="http://schemas.openxmlformats.org/officeDocument/2006/relationships/notesMaster" Target="/ppt/notesMasters/notesMaster1.xml" Id="Rafbc59e1f53445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ab188d4f44512" /><Relationship Type="http://schemas.openxmlformats.org/officeDocument/2006/relationships/notesMaster" Target="/ppt/notesMasters/notesMaster1.xml" Id="Rc910abacf393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de52694574080" /><Relationship Type="http://schemas.openxmlformats.org/officeDocument/2006/relationships/notesMaster" Target="/ppt/notesMasters/notesMaster1.xml" Id="R22976b419e8145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cf68c47d9435c" /><Relationship Type="http://schemas.openxmlformats.org/officeDocument/2006/relationships/notesMaster" Target="/ppt/notesMasters/notesMaster1.xml" Id="R2a4bf55355a6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bf1ac8603044be" /><Relationship Type="http://schemas.openxmlformats.org/officeDocument/2006/relationships/notesMaster" Target="/ppt/notesMasters/notesMaster1.xml" Id="R22527620ed89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ec5bd1aedc4ed7" /><Relationship Type="http://schemas.openxmlformats.org/officeDocument/2006/relationships/notesMaster" Target="/ppt/notesMasters/notesMaster1.xml" Id="Rc4ae587b231140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b54b185e3142f5" /><Relationship Type="http://schemas.openxmlformats.org/officeDocument/2006/relationships/notesMaster" Target="/ppt/notesMasters/notesMaster1.xml" Id="Ra25559c68d7649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f22d90ae44062" /><Relationship Type="http://schemas.openxmlformats.org/officeDocument/2006/relationships/notesMaster" Target="/ppt/notesMasters/notesMaster1.xml" Id="Rbb3c72a8b42e42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1ef8c2c15a4478" /><Relationship Type="http://schemas.openxmlformats.org/officeDocument/2006/relationships/notesMaster" Target="/ppt/notesMasters/notesMaster1.xml" Id="R4e0ab0b8500d46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6378836c3f4c1d" /><Relationship Type="http://schemas.openxmlformats.org/officeDocument/2006/relationships/notesMaster" Target="/ppt/notesMasters/notesMaster1.xml" Id="Rf6c6231e6b0544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5858cdf9aa4d07" /><Relationship Type="http://schemas.openxmlformats.org/officeDocument/2006/relationships/notesMaster" Target="/ppt/notesMasters/notesMaster1.xml" Id="R819dc08af4f440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7f869560a24cac" /><Relationship Type="http://schemas.openxmlformats.org/officeDocument/2006/relationships/notesMaster" Target="/ppt/notesMasters/notesMaster1.xml" Id="R595cbdcfaf3345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9a797078624859" /><Relationship Type="http://schemas.openxmlformats.org/officeDocument/2006/relationships/notesMaster" Target="/ppt/notesMasters/notesMaster1.xml" Id="R30206efe98ea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开场先讲结论：建议以 local-ai.club 为载体，建设一个围绕本地AI、开放评测、企业级Agent和真实课题协作的技术社区。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 AI Club 网站交互原型：https://local-ai-club.zhuangbiaowei.chatgpt.site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这一页只讲核心判断：不要把项目理解为内容门户。网站承担连接，社区沉淀公共技术成果。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这里不引用市场规模，而从明确的技术与组织需求出发：隐私、实时性、可控性和离线能力共同推动Local 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AI在这里是一个领域概念，不是某个单一软件项目。四类环境共享同一个边界：设备和基础设施由用户或组织控制。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社区不是单向传播。领导需要看到它能同时连接人才培养、开源项目、企业需求和硬件生态。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栏目不是并列堆砌，而是服务链：学习、评测、项目、Agent、悬赏和社区协作彼此导流。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强调社区的增长飞轮和北极星指标。领导关注的不是短期流量，而是能否持续生产技术资产。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Agent栏目是本方案新增的战略重点。它承接企业使用Local AI的最后一公里：从模型能力到可治理的业务执行。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用对比说明企业级门槛。兼容矩阵不仅记录能不能连，还要记录工具调用、结构化输出、多模态、长任务和恢复能力。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说明网站的第一核心交互。当前原型已经验证入口和信息架构，正式版再接入结构化数据与规则。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local-ai.club 网站产品需求文档（PRD，V1.0）</a:t>
            </a:r>
          </a:p>
          <a:p xmlns:a="http://schemas.openxmlformats.org/drawingml/2006/main">
            <a:r>
              <a:t>- Local AI Club 网站交互原型：https://local-ai-club.zhuangbiaowei.chatgpt.site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评测是社区最重要的公信力资产。尤其Agent评测要扩展到权限越界、注入、工具误用、恢复和人工接管。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组织层面建议基金会主导，但技术结论与排行榜必须保持独立。商业合作要服务社区，而不能损害公信力。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路线图不追求一次做大而全。先用90天验证关键入口和成果闭环，再扩展工作组、报告、活动和生态节点。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这些是首年目标，不是已实现数据。建议用有效公共成果和贡献者留存来评估，而不是注册量、阅读量或群人数。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结尾落到需要领导批准和协调的事项：定位、主导机制、核心团队、首批伙伴和90天公共成果。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 Club 社区建设总体方案（V1.0，2026年8月）</a:t>
            </a:r>
          </a:p>
          <a:p xmlns:a="http://schemas.openxmlformats.org/drawingml/2006/main">
            <a:r>
              <a:t>- local-ai.club 网站产品需求文档（PRD，V1.0）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e4b6ef2d44c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712e8ecd64c83" /><Relationship Type="http://schemas.openxmlformats.org/officeDocument/2006/relationships/slideLayout" Target="/ppt/slideLayouts/slideLayout1.xml" Id="Rbc1562618283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562618283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de1dd65c94bc6" /><Relationship Type="http://schemas.openxmlformats.org/officeDocument/2006/relationships/image" Target="/ppt/media/image.png" Id="R3f41a076fc8c44d8" /><Relationship Type="http://schemas.openxmlformats.org/officeDocument/2006/relationships/notesSlide" Target="/ppt/notesSlides/notesSlide1.xml" Id="R4d7ede1a18d1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9e7cb18e54c6e" /><Relationship Type="http://schemas.openxmlformats.org/officeDocument/2006/relationships/notesSlide" Target="/ppt/notesSlides/notesSlide2.xml" Id="Rb92c2ee5abc1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391e236004922" /><Relationship Type="http://schemas.openxmlformats.org/officeDocument/2006/relationships/notesSlide" Target="/ppt/notesSlides/notesSlide3.xml" Id="Racec202209a9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34d1d33a441c9" /><Relationship Type="http://schemas.openxmlformats.org/officeDocument/2006/relationships/notesSlide" Target="/ppt/notesSlides/notesSlide4.xml" Id="Rc24cf2948a0a49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fb02118124ead" /><Relationship Type="http://schemas.openxmlformats.org/officeDocument/2006/relationships/notesSlide" Target="/ppt/notesSlides/notesSlide5.xml" Id="R07df16e9bcf3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a2ae17e744ce8" /><Relationship Type="http://schemas.openxmlformats.org/officeDocument/2006/relationships/notesSlide" Target="/ppt/notesSlides/notesSlide6.xml" Id="Rca314d1881fc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5382415f4b24" /><Relationship Type="http://schemas.openxmlformats.org/officeDocument/2006/relationships/notesSlide" Target="/ppt/notesSlides/notesSlide7.xml" Id="R9544ecc7f8f147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d12aed5d04d91" /><Relationship Type="http://schemas.openxmlformats.org/officeDocument/2006/relationships/notesSlide" Target="/ppt/notesSlides/notesSlide8.xml" Id="R5979a4e7659143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fc77781914fa5" /><Relationship Type="http://schemas.openxmlformats.org/officeDocument/2006/relationships/notesSlide" Target="/ppt/notesSlides/notesSlide9.xml" Id="R7a812af20cec4d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27d422470408e" /><Relationship Type="http://schemas.openxmlformats.org/officeDocument/2006/relationships/notesSlide" Target="/ppt/notesSlides/notesSlide10.xml" Id="R3eeea695c47e4a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eaba164bc4931" /><Relationship Type="http://schemas.openxmlformats.org/officeDocument/2006/relationships/notesSlide" Target="/ppt/notesSlides/notesSlide11.xml" Id="R3dddb0c9e00147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af6b3b6aa4d1a" /><Relationship Type="http://schemas.openxmlformats.org/officeDocument/2006/relationships/notesSlide" Target="/ppt/notesSlides/notesSlide12.xml" Id="Rae8d0bc75bc14b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f0cf381b04acd" /><Relationship Type="http://schemas.openxmlformats.org/officeDocument/2006/relationships/notesSlide" Target="/ppt/notesSlides/notesSlide13.xml" Id="R36c53267d6ce4d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954d58d9d4bda" /><Relationship Type="http://schemas.openxmlformats.org/officeDocument/2006/relationships/notesSlide" Target="/ppt/notesSlides/notesSlide14.xml" Id="R0f3995a4d01845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63e84ed9f4792" /><Relationship Type="http://schemas.openxmlformats.org/officeDocument/2006/relationships/notesSlide" Target="/ppt/notesSlides/notesSlide15.xml" Id="Rdafac49b2c9f42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1a076fc8c44d8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62BEB-EDB5-4125-8B8C-382614A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5CB13-0E73-4AF3-A25C-74B70208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CFF6B"/>
                </a:solidFill>
              </a:defRPr>
            </a:pPr>
            <a:r>
              <a:rPr sz="1125" b="1" i="0">
                <a:solidFill>
                  <a:srgbClr val="8CFF6B"/>
                </a:solidFill>
              </a:rPr>
              <a:t>社区建设方案  /  领导汇报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6A94B-144B-4CA9-AD25-C5AA4F3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建设面向本地 AI 与企业级 Agent 的开放协作平台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6A0AD-5114-4A09-A492-ECB396DC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AB5BB"/>
                </a:solidFill>
              </a:defRPr>
            </a:pPr>
            <a:r>
              <a:rPr sz="1050" b="0" i="0">
                <a:solidFill>
                  <a:srgbClr val="AAB5BB"/>
                </a:solidFill>
              </a:rPr>
              <a:t>local-ai.club  ·  汇报材料  ·  2026年8月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5C9A3-D540-4327-914F-E62B7123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90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天工开物开源基金会</a:t>
            </a:r>
          </a:p>
        </p:txBody>
      </p:sp>
    </p:spTree>
    <p:extLst>
      <p:ext uri="{BB962C8B-B14F-4D97-AF65-F5344CB8AC3E}">
        <p14:creationId xmlns:p14="http://schemas.microsoft.com/office/powerpoint/2010/main" val="2093555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066AD-D00D-4C06-AC8E-8D7635AC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核心建议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9CAFC-26B5-4A07-9029-43B888C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建议建设的不只是网站，而是一套开放协作基础设施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539A4-8D1F-4947-9F85-7D75929D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网站是入口，真正的资产是知识、数据、项目和持续贡献者。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D66C7-D1DD-4480-9FD7-199C414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F5E67-ECEF-4141-AE5D-EDF47BC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2B85A"/>
                </a:solidFill>
              </a:defRPr>
            </a:pPr>
            <a:r>
              <a:rPr sz="2550" b="1" i="0">
                <a:solidFill>
                  <a:srgbClr val="22B85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26C9D-16A0-4985-A938-2356993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公共知识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58C38-2A7C-44B7-86EC-5F1B26E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知识库与课程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CBB24-A761-44C6-B52C-545C28F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把分散教程、经验和问答，沉淀为持续更新的技术体系。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3D49C-CF42-420A-A3CB-995A0FA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5270-C3F8-41E0-BAC1-2187410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7A3D"/>
                </a:solidFill>
              </a:defRPr>
            </a:pPr>
            <a:r>
              <a:rPr sz="2550" b="1" i="0">
                <a:solidFill>
                  <a:srgbClr val="FF7A3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2F21E-531E-495D-A995-5AC85FCE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可信数据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2C714-FFD5-4525-A305-2769252D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可复现评测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0C024-0B0D-4AE6-A47B-2622C31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公开模型、引擎、硬件、参数、脚本与原始结果。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1C410-10BD-4E8E-84D1-DE030C7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EA42A-EFD7-4F11-A310-6DE12E28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5A8FF"/>
                </a:solidFill>
              </a:defRPr>
            </a:pPr>
            <a:r>
              <a:rPr sz="2550" b="1" i="0">
                <a:solidFill>
                  <a:srgbClr val="55A8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B8682-1A03-49FD-A94D-548C7498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A8FF"/>
                </a:solidFill>
              </a:defRPr>
            </a:pPr>
            <a:r>
              <a:rPr sz="1200" b="1" i="0">
                <a:solidFill>
                  <a:srgbClr val="55A8FF"/>
                </a:solidFill>
              </a:rPr>
              <a:t>开放协作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9B279-ADD4-4FC6-B309-B102611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项目与真实课题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C0B8E-64D0-4380-A38D-2F351EF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连接开发者、开源项目、企业、高校和硬件伙伴。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2C9B5-77F9-4278-B337-A8FFAE6E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CD99E-B5A1-4BDF-B9BF-4F443AF6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CFF6B"/>
                </a:solidFill>
              </a:defRPr>
            </a:pPr>
            <a:r>
              <a:rPr sz="2250" b="1" i="0">
                <a:solidFill>
                  <a:srgbClr val="8CFF6B"/>
                </a:solidFill>
              </a:rPr>
              <a:t>90天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D5D7A-D902-4B8A-9711-3364B8EF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959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上线MVP：设备选型、知识库、项目图谱、企业级Agent、开放评测与首批悬赏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67A45-9AD9-4638-AF33-47B8BE89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C6768-4228-40A0-BEB0-B57B6AF1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7284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42B8B-D91D-4037-B8B6-6713B4F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FF6B"/>
                </a:solidFill>
              </a:defRPr>
            </a:pPr>
            <a:r>
              <a:rPr sz="900" b="1" i="0">
                <a:solidFill>
                  <a:srgbClr val="8CFF6B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F367E-71E4-4618-9CE7-43C62B4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Local AI 正从技术爱好走向企业刚需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E7F38-D4BC-4875-8941-2C2DAA60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模型越来越开放，设备能力持续提升，而企业对数据边界、成本和可控性的要求更加明确。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43A4E-3D8F-4C45-828A-FCC488B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F5F0B-8EE6-4504-A3FA-E1168672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隐私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F0AC4-12A2-4535-9455-F8C69989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敏感数据不离开个人或组织边界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261BD-83FD-45CA-8174-517966B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FE0B2-4769-4759-99D8-13B7CFA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低延迟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5D548-1BFB-4A05-9DF5-30E9BE8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671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在现场完成推理与决策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9B4D7-E12C-435C-8343-4DF5EDF4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AFB09-6ED3-4822-A378-6507237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自主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6D21F-D099-43E6-B09F-31056C4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掌握模型、数据、算力和应用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0114D-9F6C-4CA7-95F5-335CDAB0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485AB-916D-4252-BABC-655D8AD5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E8A3D-23E1-49A9-8CCB-6D33C73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降低对外部服务连续性的依赖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1B4DF-D6C5-455D-A4BF-F4FF0A9F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现实缺口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FC01-74DB-4648-9F3C-A16CDE5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信息碎片化  ·  评测口径不一  ·  教程快速过时  ·  企业选型缺少可信参考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F6657-E7E0-4042-9B49-92515A2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LOCAL AI CLUB  /  社区建设汇报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631BB-7DE0-4C8E-A7D8-2BE653D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3990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A5CCB-8310-446A-9572-0E2391A7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社区边界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3391-4169-449C-A08A-21BEC35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覆盖四类运行环境，但坚持同一个核心原则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A7769-51EF-4DBB-81E8-0D847F3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AI主要运行在用户拥有或控制的设备与基础设施上。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76BF-82F7-4D76-8FDD-18C7E92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0A410-E78A-4B66-BEC5-A0BA04E2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2B85A"/>
                </a:solidFill>
              </a:defRPr>
            </a:pPr>
            <a:r>
              <a:rPr sz="1950" b="1" i="0">
                <a:solidFill>
                  <a:srgbClr val="22B85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EA555-8C7C-4B97-A702-54E03F0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620"/>
                </a:solidFill>
              </a:defRPr>
            </a:pPr>
            <a:r>
              <a:rPr sz="1950" b="1" i="0">
                <a:solidFill>
                  <a:srgbClr val="0B1620"/>
                </a:solidFill>
              </a:rPr>
              <a:t>个人本地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5AF08-9B39-48D6-B6F0-96D3DEB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PC、Mac、工作站、家庭服务器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79874-9CE3-4EA9-B68E-65CBD26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886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2B85A"/>
                </a:solidFill>
              </a:defRPr>
            </a:pPr>
            <a:r>
              <a:rPr sz="1350" b="1" i="0">
                <a:solidFill>
                  <a:srgbClr val="22B85A"/>
                </a:solidFill>
              </a:rPr>
              <a:t>隐私 · 低成本 · 个性化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08539-60C1-4005-BAF1-3CCCD7E6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3BB1B-FB1A-4C51-9A36-10802B0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7A3D"/>
                </a:solidFill>
              </a:defRPr>
            </a:pPr>
            <a:r>
              <a:rPr sz="1950" b="1" i="0">
                <a:solidFill>
                  <a:srgbClr val="FF7A3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B9448-0AE7-452A-B264-D7C9303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765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620"/>
                </a:solidFill>
              </a:defRPr>
            </a:pPr>
            <a:r>
              <a:rPr sz="1950" b="1" i="0">
                <a:solidFill>
                  <a:srgbClr val="0B1620"/>
                </a:solidFill>
              </a:rPr>
              <a:t>端侧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D1924-1977-432F-B1E8-E5F9B82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手机、平板、浏览器、可穿戴设备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E3D24-AB5D-4C2A-BD7E-81470569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886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7A3D"/>
                </a:solidFill>
              </a:defRPr>
            </a:pPr>
            <a:r>
              <a:rPr sz="1350" b="1" i="0">
                <a:solidFill>
                  <a:srgbClr val="FF7A3D"/>
                </a:solidFill>
              </a:rPr>
              <a:t>低功耗 · 低延迟 · 离线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82388-F811-4124-BE44-EFFEAEE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C15C7-AD20-4313-9385-85B0AA73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5A8FF"/>
                </a:solidFill>
              </a:defRPr>
            </a:pPr>
            <a:r>
              <a:rPr sz="1950" b="1" i="0">
                <a:solidFill>
                  <a:srgbClr val="55A8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8F5F3-7BD3-433C-AD30-3BC52AE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00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620"/>
                </a:solidFill>
              </a:defRPr>
            </a:pPr>
            <a:r>
              <a:rPr sz="1950" b="1" i="0">
                <a:solidFill>
                  <a:srgbClr val="0B1620"/>
                </a:solidFill>
              </a:rPr>
              <a:t>边缘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05F0A-C069-46E7-8091-67C0F16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工厂、汽车、机器人、IoT设备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8B9B3-31CF-4DB8-B22F-7747B66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9550"/>
            <a:ext cx="2886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55A8FF"/>
                </a:solidFill>
              </a:defRPr>
            </a:pPr>
            <a:r>
              <a:rPr sz="1350" b="1" i="0">
                <a:solidFill>
                  <a:srgbClr val="55A8FF"/>
                </a:solidFill>
              </a:rPr>
              <a:t>实时 · 稳定 · 现场决策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A2C71-CA40-4425-8A77-4A96E2C1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E4945-140F-42B0-BC67-B072765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D8BFF"/>
                </a:solidFill>
              </a:defRPr>
            </a:pPr>
            <a:r>
              <a:rPr sz="1950" b="1" i="0">
                <a:solidFill>
                  <a:srgbClr val="AD8B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0F286-8C6C-4168-A7A1-D026781D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24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620"/>
                </a:solidFill>
              </a:defRPr>
            </a:pPr>
            <a:r>
              <a:rPr sz="1950" b="1" i="0">
                <a:solidFill>
                  <a:srgbClr val="0B1620"/>
                </a:solidFill>
              </a:rPr>
              <a:t>私有化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39A8C-ADA2-4632-A73F-1D1CE2A8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3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企业服务器、私有云、AI一体机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2C0B3-16D7-46AD-9AA5-FE1E568C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43475"/>
            <a:ext cx="2886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AD8BFF"/>
                </a:solidFill>
              </a:defRPr>
            </a:pPr>
            <a:r>
              <a:rPr sz="1350" b="1" i="0">
                <a:solidFill>
                  <a:srgbClr val="AD8BFF"/>
                </a:solidFill>
              </a:rPr>
              <a:t>安全 · 可控 · 系统集成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5315B-199D-4CC3-BE29-D3F3AB9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BA01D-B5DB-4815-A9ED-915C016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684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18BCD-E14F-4B23-8122-EE9F730B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生态价值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E34F1-3449-454B-84A1-CB7B3186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用户不是流量，而是协作网络中的不同角色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38A0B-2F4C-4F80-A54C-29E836D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社区必须让每类参与者既获得价值，也能贡献公共成果。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21102-F712-4770-90DC-12373DF0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AC5D9-1E77-4BBC-9DBA-EEB3074C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24225"/>
            <a:ext cx="636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C5983-4F3A-4858-9EA0-8369F74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28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7DC7B-FD62-4714-A104-85BDDC8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9608A-4483-4FB0-BFE7-03E23BC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6BE1C-B5CE-450C-B5E3-70458DBF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2C58E-A011-4BFC-8F2B-B3E63613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86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18658-1486-4AD8-A95C-FEAD7EF8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2095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55516-26FF-4F47-8937-CDD3839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CFF6B"/>
                </a:solidFill>
              </a:defRPr>
            </a:pPr>
            <a:r>
              <a:rPr sz="1800" b="1" i="0">
                <a:solidFill>
                  <a:srgbClr val="8CFF6B"/>
                </a:solidFill>
              </a:rPr>
              <a:t>LOCAL AI</a:t>
            </a:r>
          </a:p>
          <a:p xmlns:a="http://schemas.openxmlformats.org/drawingml/2006/main">
            <a:pPr algn="ctr">
              <a:defRPr sz="1800" b="1" i="0">
                <a:solidFill>
                  <a:srgbClr val="8CFF6B"/>
                </a:solidFill>
              </a:defRPr>
            </a:pPr>
            <a:r>
              <a:rPr sz="1800" b="1" i="0">
                <a:solidFill>
                  <a:srgbClr val="8CFF6B"/>
                </a:solidFill>
              </a:rPr>
              <a:t>CLUB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2D5BE-F435-4A33-A145-82E17354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B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A58A7-9D07-40D7-A029-24CE0A6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289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2B85A"/>
                </a:solidFill>
              </a:defRPr>
            </a:pPr>
            <a:r>
              <a:rPr sz="1425" b="1" i="0">
                <a:solidFill>
                  <a:srgbClr val="22B85A"/>
                </a:solidFill>
              </a:rPr>
              <a:t>学习者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A801E-8045-4DCB-BBA8-8C22162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14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学习路径与实践入口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23513-3C49-4D49-A3A9-11B2ABE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AD398-1B84-412C-AD1D-0D2C8C8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145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7A3D"/>
                </a:solidFill>
              </a:defRPr>
            </a:pPr>
            <a:r>
              <a:rPr sz="1425" b="1" i="0">
                <a:solidFill>
                  <a:srgbClr val="FF7A3D"/>
                </a:solidFill>
              </a:rPr>
              <a:t>开发者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0780C-998A-4925-BEDE-049F340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工具、数据与公开履历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23586-67E6-4588-98FC-3EA67A02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A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50955-B2DE-450A-8C4B-ABFEFCE0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5A8FF"/>
                </a:solidFill>
              </a:defRPr>
            </a:pPr>
            <a:r>
              <a:rPr sz="1425" b="1" i="0">
                <a:solidFill>
                  <a:srgbClr val="55A8FF"/>
                </a:solidFill>
              </a:rPr>
              <a:t>项目维护者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970B8-67FC-4258-96AF-D4912F8D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用户、反馈与贡献者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1364C-0831-4CD6-8AB0-41C16ED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8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F96F0-8C30-41EC-A3E4-5CDDFA1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D8BFF"/>
                </a:solidFill>
              </a:defRPr>
            </a:pPr>
            <a:r>
              <a:rPr sz="1425" b="1" i="0">
                <a:solidFill>
                  <a:srgbClr val="AD8BFF"/>
                </a:solidFill>
              </a:rPr>
              <a:t>企业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BFDB4-A38E-4BDF-BCB4-DA4B6C5B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选型、人才与真实课题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45344-EAAE-4488-A463-27F1A09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33875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A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72DCF-102C-4DDE-AE10-2450BE0A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481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5A8FF"/>
                </a:solidFill>
              </a:defRPr>
            </a:pPr>
            <a:r>
              <a:rPr sz="1425" b="1" i="0">
                <a:solidFill>
                  <a:srgbClr val="55A8FF"/>
                </a:solidFill>
              </a:rPr>
              <a:t>高校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1730B-ADFD-4A39-9528-E7114099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339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课程、实验与联合研究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36B27-75EB-427F-AD18-563349A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33875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A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BBE0E-89E7-4243-B16A-71F2D63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481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7A3D"/>
                </a:solidFill>
              </a:defRPr>
            </a:pPr>
            <a:r>
              <a:rPr sz="1425" b="1" i="0">
                <a:solidFill>
                  <a:srgbClr val="FF7A3D"/>
                </a:solidFill>
              </a:rPr>
              <a:t>硬件伙伴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757B9-DD7D-46D9-809B-6CE4C02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D696F"/>
                </a:solidFill>
              </a:defRPr>
            </a:pPr>
            <a:r>
              <a:rPr sz="975" b="0" i="0">
                <a:solidFill>
                  <a:srgbClr val="5D696F"/>
                </a:solidFill>
              </a:rPr>
              <a:t>开放验证与应用生态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854A5-7CD9-45B1-924C-94321BAB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033E0-90A5-4143-AD06-AE410EC0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1599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EEFD4-94C5-4B92-B80C-55FC365D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FF6B"/>
                </a:solidFill>
              </a:defRPr>
            </a:pPr>
            <a:r>
              <a:rPr sz="900" b="1" i="0">
                <a:solidFill>
                  <a:srgbClr val="8CFF6B"/>
                </a:solidFill>
              </a:rPr>
              <a:t>PRODUCT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1A611-8FC6-4379-B1B7-BF246CB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六类核心产品构成完整服务链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EE7A9-0624-4345-9F0B-2D5DDC2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从学习与选型出发，最终进入项目协作和真实课题。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411AB-A796-4AB8-BFC5-62F5394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FF6B"/>
                </a:solidFill>
              </a:defRPr>
            </a:pPr>
            <a:r>
              <a:rPr sz="1350" b="1" i="0">
                <a:solidFill>
                  <a:srgbClr val="8CFF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0B06F-EACD-484E-9CD0-E134EB66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知识与课程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2E23-963D-48D7-8564-6C977E98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文章、教程、路线图、训练营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2516B-C1C1-4986-92D7-C8F4F9A4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8BB26-44F1-46E5-9F41-F49DD10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7A3D"/>
                </a:solidFill>
              </a:defRPr>
            </a:pPr>
            <a:r>
              <a:rPr sz="1350" b="1" i="0">
                <a:solidFill>
                  <a:srgbClr val="FF7A3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EFF40-40ED-4962-BD69-4C53F063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43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开放评测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8663C-F1BE-4D6A-BDD2-79D6B6C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模型 × 引擎 × 硬件 × 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D164E-4FC6-496A-8573-40EC4B2A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7B96D-A244-44EF-A3C9-5147B25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5A8FF"/>
                </a:solidFill>
              </a:defRPr>
            </a:pPr>
            <a:r>
              <a:rPr sz="1350" b="1" i="0">
                <a:solidFill>
                  <a:srgbClr val="55A8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FEA7-36F8-43F1-8DE6-B1931136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90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项目图谱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999EE-A579-4896-9830-4CE8A43F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结构化档案、对比与贡献入口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0125B-A507-4909-A5AD-552BA58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4C6DF-8C08-4B75-8872-6AA87575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D8BFF"/>
                </a:solidFill>
              </a:defRPr>
            </a:pPr>
            <a:r>
              <a:rPr sz="1350" b="1" i="0">
                <a:solidFill>
                  <a:srgbClr val="AD8B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8B0C0-9CCA-4BA7-9459-3607978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38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企业级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FC503-ABD0-4578-B6EE-9D9F321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兼容矩阵、参考架构与治理评测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B81B4-E592-4FDB-A4EA-5907D33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97C01-BB2A-4DF3-9A08-531EA9CF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7A3D"/>
                </a:solidFill>
              </a:defRPr>
            </a:pPr>
            <a:r>
              <a:rPr sz="1350" b="1" i="0">
                <a:solidFill>
                  <a:srgbClr val="FF7A3D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6764C-A8B8-4986-ABC8-3E54287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课题悬赏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08B1E-8764-4BAE-9133-9E203E3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244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真实需求、公开认领、评审验收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9732C-7905-478B-A712-ABA1422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81796-EE95-417E-870C-B6F2B69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FF6B"/>
                </a:solidFill>
              </a:defRPr>
            </a:pPr>
            <a:r>
              <a:rPr sz="1350" b="1" i="0">
                <a:solidFill>
                  <a:srgbClr val="8CFF6B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611AA-CDE9-498D-A1B9-045273E2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3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社区协作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C277D-39C4-43BE-81FC-7B5EC1F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72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问答、工作组、活动与城市节点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74125-C61B-44C2-BC09-99299ED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92510-18DF-4589-93FC-8D4D0DBB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LOCAL AI CLUB  /  社区建设汇报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8C94F-97DA-4BB5-B916-C6BB9439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259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241BF-BF41-4034-91C6-5AF3592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增长机制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E37F0-F937-468C-9538-85002625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真正的差异化，是把一次实践变成公共成果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03E4E-31F9-496C-B31C-C9766418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内容吸引参与，实践产生数据，数据又反过来推动项目和真实课题。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C7F2B-16B4-42CD-B212-CDABDC92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6EA3-5D0B-4C9E-AA31-DCF04250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9240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9525">
            <a:solidFill>
              <a:srgbClr val="22B8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57FF7-50F8-4E7B-8866-8D1289A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CFF6B"/>
                </a:solidFill>
              </a:defRPr>
            </a:pPr>
            <a:r>
              <a:rPr sz="1875" b="1" i="0">
                <a:solidFill>
                  <a:srgbClr val="8CFF6B"/>
                </a:solidFill>
              </a:rPr>
              <a:t>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77249-C484-4ED2-906D-4C2D08DB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教程与课程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DB546-EB37-4C05-B97D-DD70CDDD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19240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A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3C24A-740B-40A4-9C16-A9B8653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0D07F-4500-4181-99D4-797B336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96F"/>
                </a:solidFill>
              </a:defRPr>
            </a:pPr>
            <a:r>
              <a:rPr sz="1050" b="0" i="0">
                <a:solidFill>
                  <a:srgbClr val="5D696F"/>
                </a:solidFill>
              </a:rPr>
              <a:t>完成实验与项目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393DE-81C1-49CA-8415-5E9B32A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9240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A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DB73B-052A-44E7-B9DB-7996D704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78A27-C735-4DD1-A17D-2FD5EA8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96F"/>
                </a:solidFill>
              </a:defRPr>
            </a:pPr>
            <a:r>
              <a:rPr sz="1050" b="0" i="0">
                <a:solidFill>
                  <a:srgbClr val="5D696F"/>
                </a:solidFill>
              </a:rPr>
              <a:t>产生可复现评测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773F4-9D1F-420F-8BEA-8FFEADC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5100"/>
            <a:ext cx="19240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F8B26-6ECC-449D-85D8-004145D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协作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AF7C9-F12E-44AA-907A-F68AF885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96F"/>
                </a:solidFill>
              </a:defRPr>
            </a:pPr>
            <a:r>
              <a:rPr sz="1050" b="0" i="0">
                <a:solidFill>
                  <a:srgbClr val="5D696F"/>
                </a:solidFill>
              </a:rPr>
              <a:t>进入项目与悬赏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7503-42D4-4E39-86EC-94932529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19240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B8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9233A-BD75-4CCF-BAE9-3709710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D7BC3-21A2-4EFC-8F6F-EEE9E13E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96F"/>
                </a:solidFill>
              </a:defRPr>
            </a:pPr>
            <a:r>
              <a:rPr sz="1050" b="0" i="0">
                <a:solidFill>
                  <a:srgbClr val="5D696F"/>
                </a:solidFill>
              </a:rPr>
              <a:t>回到知识库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5FF1B-24E7-493A-8835-8993BEB0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社区北极星指标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0431B-CE46-4125-86E8-5A61C17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620"/>
                </a:solidFill>
              </a:defRPr>
            </a:pPr>
            <a:r>
              <a:rPr sz="2400" b="1" i="0">
                <a:solidFill>
                  <a:srgbClr val="0B1620"/>
                </a:solidFill>
              </a:rPr>
              <a:t>每月产生有效公共技术成果的活跃贡献者人数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249A4-8D80-401B-90CB-4A55B34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不以注册量或群人数作为核心成功标准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8F982-EDDF-4F3E-A476-941496E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2CB38-7179-4FBB-AB55-030BF537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2196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B9BA4-76E5-4679-937B-967D71A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D8BFF"/>
                </a:solidFill>
              </a:defRPr>
            </a:pPr>
            <a:r>
              <a:rPr sz="900" b="1" i="0">
                <a:solidFill>
                  <a:srgbClr val="AD8BFF"/>
                </a:solidFill>
              </a:rPr>
              <a:t>ENTERPRISE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6CA3-6EA8-4FA8-9869-68CBC0F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企业级 Agent 是 Local AI 进入组织的关键入口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214A5-1682-42BC-B33D-59CA1D0E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它把本地模型能力，转化为可接入业务、可治理、可追溯的执行主体。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0A0C1-EC07-4FAC-A12E-ED416F5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CFF6B"/>
                </a:solidFill>
              </a:defRPr>
            </a:pPr>
            <a:r>
              <a:rPr sz="1800" b="1" i="0">
                <a:solidFill>
                  <a:srgbClr val="8CFF6B"/>
                </a:solidFill>
              </a:rPr>
              <a:t>我们关注的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820A9-BE12-43EC-87FC-C2C965B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90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能够连接本地模型、私有推理服务与企业内部系统，并满足部署、运维、安全与治理要求。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19244-FD9F-4C65-B392-5E53B84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7A3D"/>
                </a:solidFill>
              </a:defRPr>
            </a:pPr>
            <a:r>
              <a:rPr sz="1275" b="0" i="0">
                <a:solidFill>
                  <a:srgbClr val="FF7A3D"/>
                </a:solidFill>
              </a:rPr>
              <a:t>不是泛化聊天机器人，也不把“能够调用模型”视为企业级。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B9BD6-6335-4473-AD78-CF2B3581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607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431"/>
          </a:solidFill>
          <a:ln xmlns:a="http://schemas.openxmlformats.org/drawingml/2006/main" w="9525">
            <a:solidFill>
              <a:srgbClr val="AD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D9916-B4D9-4E4C-9BB1-79DD0AF9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D8BFF"/>
                </a:solidFill>
              </a:defRPr>
            </a:pPr>
            <a:r>
              <a:rPr sz="1500" b="1" i="0">
                <a:solidFill>
                  <a:srgbClr val="AD8BFF"/>
                </a:solidFill>
              </a:rPr>
              <a:t>业务场景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809A5-8FD6-4031-BC63-BD79EE3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955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知识 · 研发 · 客服 · 流程 · 行业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96270-AC29-4E14-AB8F-AC1FD78B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607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431"/>
          </a:solidFill>
          <a:ln xmlns:a="http://schemas.openxmlformats.org/drawingml/2006/main" w="9525">
            <a:solidFill>
              <a:srgbClr val="55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E0814-0CE8-47D0-AF58-071C169D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19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5A8FF"/>
                </a:solidFill>
              </a:defRPr>
            </a:pPr>
            <a:r>
              <a:rPr sz="1500" b="1" i="0">
                <a:solidFill>
                  <a:srgbClr val="55A8FF"/>
                </a:solidFill>
              </a:rPr>
              <a:t>Agent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123B1-ED81-407F-A7E6-9A0A734D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384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任务 · 状态 · 工具 · 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8F957-D5AE-430E-B037-2F08D29F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07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431"/>
          </a:solidFill>
          <a:ln xmlns:a="http://schemas.openxmlformats.org/drawingml/2006/main" w="9525">
            <a:solidFill>
              <a:srgbClr val="FF7A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424EE-081D-425B-B70D-4E672F1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62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7A3D"/>
                </a:solidFill>
              </a:defRPr>
            </a:pPr>
            <a:r>
              <a:rPr sz="1500" b="1" i="0">
                <a:solidFill>
                  <a:srgbClr val="FF7A3D"/>
                </a:solidFill>
              </a:rPr>
              <a:t>治理控制面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35727-7BD9-47D3-90EF-C73F76F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81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身份 · 权限 · 审计 · 评测 · 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93CE0-C4F3-4180-8454-204F3C3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607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431"/>
          </a:solidFill>
          <a:ln xmlns:a="http://schemas.openxmlformats.org/drawingml/2006/main" w="9525">
            <a:solidFill>
              <a:srgbClr val="8CFF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62A06-8B16-43FD-BCB1-9B7AF0F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FF6B"/>
                </a:solidFill>
              </a:defRPr>
            </a:pPr>
            <a:r>
              <a:rPr sz="1500" b="1" i="0">
                <a:solidFill>
                  <a:srgbClr val="8CFF6B"/>
                </a:solidFill>
              </a:rPr>
              <a:t>企业数据与工具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731C1-BC59-47AF-9C01-51FB6529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文档 · 数据库 · 代码库 · 业务API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C55F2-902B-4C9D-BC44-D4EACDE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24450"/>
            <a:ext cx="607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CFF6B"/>
          </a:solidFill>
          <a:ln xmlns:a="http://schemas.openxmlformats.org/drawingml/2006/main" w="9525">
            <a:solidFill>
              <a:srgbClr val="22B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8EE63-A12B-485D-AAAA-1A70FB3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48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620"/>
                </a:solidFill>
              </a:defRPr>
            </a:pPr>
            <a:r>
              <a:rPr sz="1500" b="1" i="0">
                <a:solidFill>
                  <a:srgbClr val="0B1620"/>
                </a:solidFill>
              </a:rPr>
              <a:t>本地推理层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46708-B1B7-40BD-8A29-E5B70940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673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0B1620"/>
                </a:solidFill>
              </a:defRPr>
            </a:pPr>
            <a:r>
              <a:rPr sz="1275" b="0" i="0">
                <a:solidFill>
                  <a:srgbClr val="0B1620"/>
                </a:solidFill>
              </a:rPr>
              <a:t>模型 · 引擎 · 网关 · 硬件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E9C80-D39B-4E98-84F8-014EDCA8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LOCAL AI CLUB  /  社区建设汇报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4F5AB-224E-4A4E-A73F-F370E78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6992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B2FD0-EA1A-43B1-9BEF-A199FFB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能力门槛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31E91-16A3-4BED-AB65-285E280C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能调用模型，不等于达到企业级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CB511-D6E5-490B-B049-970A948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兼容性必须分层验证，不能把API连通标记为完全兼容。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0178E-BFCA-4939-9A96-17DAD2F2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32F84-36CC-4FA0-A9AD-BB392F4B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D696F"/>
                </a:solidFill>
              </a:defRPr>
            </a:pPr>
            <a:r>
              <a:rPr sz="2100" b="1" i="0">
                <a:solidFill>
                  <a:srgbClr val="5D696F"/>
                </a:solidFill>
              </a:rPr>
              <a:t>基础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6EFC1-B18D-40A8-A978-FCDA968C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33600"/>
            <a:ext cx="469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2B85A"/>
                </a:solidFill>
              </a:defRPr>
            </a:pPr>
            <a:r>
              <a:rPr sz="2100" b="1" i="0">
                <a:solidFill>
                  <a:srgbClr val="22B85A"/>
                </a:solidFill>
              </a:rPr>
              <a:t>企业级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7F3F1-76DF-4762-8BAB-4FC1B007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7D16A-46CC-4216-AEEB-FEDB1EF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调用文本生成接口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CA15-5149-4FB8-B19C-2FFAB7FF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结构化输出、工具调用与多模态分层兼容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FA7B3-2EEE-4D4E-AB6E-7083B50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执行少量预设工具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94562-4BFE-4A8A-AAF6-6B35ECE6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099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工具、代码、文件和网络访问均可控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C1640-5B56-45C9-88B6-1C31AD4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单用户、单任务运行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6C39D-0FEA-4C09-888E-238B8943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052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SSO、RBAC与数据权限继承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CF45A-1303-4D1E-A679-65308A1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日志停留在错误信息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09D1B-190E-440A-A5E6-5E0A2AFB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全链路Trace、成本、审计与评测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1AC95-662D-4459-87F0-8990B7E5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失败后重新开始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89D46-D6A0-4456-AADE-DD4BBC2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958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重试、回滚、人工接管与任务恢复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AB904-1AB0-4406-B6DE-7149AA74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—  默认信任模型输出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7540D-D501-456A-8F20-E3EA6621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911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✓  安全策略、审批发布与持续风险测试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BF9F-FA44-4344-A7A4-D68DDB13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76900"/>
            <a:ext cx="4695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FF096-9D4F-416B-8D7C-162512E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81675"/>
            <a:ext cx="441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8CFF6B"/>
                </a:solidFill>
              </a:defRPr>
            </a:pPr>
            <a:r>
              <a:rPr sz="1350" b="1" i="0">
                <a:solidFill>
                  <a:srgbClr val="8CFF6B"/>
                </a:solidFill>
              </a:rPr>
              <a:t>社区输出：Agent × 模型 × 引擎兼容矩阵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64738-A892-4227-A273-7FA2006F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C6F2C-4DFA-4F63-999B-8C549F19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6294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246E85-3390-4B1D-BB08-EFC4CCB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网站体验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B6AC-DC20-444E-A161-4E140B1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首个高频入口：我的设备能运行什么模型？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1D13-93A5-483E-B4FA-2E3AE831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让第一次访问立即获得有用答案，再进入教程、评测、项目和Agent。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0F59C-C139-4C95-8143-CC71AAE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B0A1D-8751-4297-8896-3AFD08F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INPUT / 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3D769-B2D2-4E4C-9E7F-3B6E511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计算平台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3E23E-F320-4CE3-831B-953F07EC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47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Apple / NVIDIA / 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4AE04-6049-4ED0-A823-BBADD36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23A83-76C1-4CA3-B3B9-63B4C07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内存或显存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44953-3A58-4709-AF68-27986E4A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67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16GB / 32GB / 64GB+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8BE62-D503-4118-9DAE-D96AB06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FE4DD-A4E8-414D-99DE-E5CCEB15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620"/>
                </a:solidFill>
              </a:defRPr>
            </a:pPr>
            <a:r>
              <a:rPr sz="1275" b="1" i="0">
                <a:solidFill>
                  <a:srgbClr val="0B1620"/>
                </a:solidFill>
              </a:rPr>
              <a:t>主要用途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D09E8-7B27-41B6-846C-862D86FC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对话 / 编程 / 视觉 /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249AE-A6CA-4A6A-96A0-625EA677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6D373-822C-4020-A56D-8625FE37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58864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A4BC9-F355-4F5F-A5B5-8250EFD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FF6B"/>
                </a:solidFill>
              </a:defRPr>
            </a:pPr>
            <a:r>
              <a:rPr sz="900" b="1" i="0">
                <a:solidFill>
                  <a:srgbClr val="8CFF6B"/>
                </a:solidFill>
              </a:rPr>
              <a:t>RECOMMENDED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B2FC3-8091-42C3-AB4D-A05A0EB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14B级开放模型 · 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B926A-2E1E-402A-B239-E99CC462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5BB"/>
                </a:solidFill>
              </a:defRPr>
            </a:pPr>
            <a:r>
              <a:rPr sz="1125" b="0" i="0">
                <a:solidFill>
                  <a:srgbClr val="AAB5BB"/>
                </a:solidFill>
              </a:rPr>
              <a:t>推荐引擎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8E584-B15C-42C8-B120-30D7DEB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FF6B"/>
                </a:solidFill>
              </a:defRPr>
            </a:pPr>
            <a:r>
              <a:rPr sz="1500" b="1" i="0">
                <a:solidFill>
                  <a:srgbClr val="8CFF6B"/>
                </a:solidFill>
              </a:rPr>
              <a:t>MLX / 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486F0-EE84-428C-B139-2723264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57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5BB"/>
                </a:solidFill>
              </a:defRPr>
            </a:pPr>
            <a:r>
              <a:rPr sz="1125" b="0" i="0">
                <a:solidFill>
                  <a:srgbClr val="AAB5BB"/>
                </a:solidFill>
              </a:rPr>
              <a:t>预估速度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4C49A-0F8F-4EB8-BFF4-04C0B6F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7A3D"/>
                </a:solidFill>
              </a:defRPr>
            </a:pPr>
            <a:r>
              <a:rPr sz="1500" b="1" i="0">
                <a:solidFill>
                  <a:srgbClr val="FF7A3D"/>
                </a:solidFill>
              </a:rPr>
              <a:t>22—45 tok/s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19D3B-CC4F-4376-9295-DA788C6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053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下一步：安装教程  →  相似实测  →  适配项目  →  企业Agent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ADC71-E705-4B5C-B80C-A57E315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2B85A"/>
                </a:solidFill>
              </a:defRPr>
            </a:pPr>
            <a:r>
              <a:rPr sz="1650" b="1" i="0">
                <a:solidFill>
                  <a:srgbClr val="22B85A"/>
                </a:solidFill>
              </a:rPr>
              <a:t>原型已完成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F69B8-30B8-497E-BC70-5A9EDC6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245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local-ai.club 将以结构化数据驱动推荐，而不是只提供文章搜索。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0155D-62F4-4A1E-B6B3-2124DC8B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917F5-160B-4998-87C7-62CC27F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63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0FEE-5A4C-4C96-B552-170251D2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7A3D"/>
                </a:solidFill>
              </a:defRPr>
            </a:pPr>
            <a:r>
              <a:rPr sz="900" b="1" i="0">
                <a:solidFill>
                  <a:srgbClr val="FF7A3D"/>
                </a:solidFill>
              </a:rPr>
              <a:t>OPEN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F1DAC-3B27-4ADE-97E9-D41FEB9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开放评测必须比普通排行榜更可信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492EC-E3F7-4F1B-8C85-F4B1AFCC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5BB"/>
                </a:solidFill>
              </a:defRPr>
            </a:pPr>
            <a:r>
              <a:rPr sz="1350" b="0" i="0">
                <a:solidFill>
                  <a:srgbClr val="AAB5BB"/>
                </a:solidFill>
              </a:rPr>
              <a:t>关键不是给出一个分数，而是让任何人知道结果在什么条件下成立。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9EE40-D226-45E8-971F-8BA9FA47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CFF6B"/>
                </a:solidFill>
              </a:defRPr>
            </a:pPr>
            <a:r>
              <a:rPr sz="1800" b="1" i="0">
                <a:solidFill>
                  <a:srgbClr val="8CFF6B"/>
                </a:solidFill>
              </a:rPr>
              <a:t>每次评测必须公开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2D3DB-9C32-4BEC-AF6C-891FEC44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✓  模型与文件校验信息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D8D69-3CB1-4D44-8561-3708CD1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✓  量化版本与推理引擎版本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F796C-6A75-4935-BBEC-14DA378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✓  操作系统、驱动和完整硬件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7A9B9-A889-4C8D-94D1-E5CE3C81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✓  运行参数、数据集与提示词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FEF8D-CC33-4C68-B044-A0EB6C51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✓  评测脚本、原始结果与复现记录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A1C46-427D-4A39-8578-051ABDB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5BB"/>
                </a:solidFill>
              </a:defRPr>
            </a:pPr>
            <a:r>
              <a:rPr sz="1275" b="0" i="0">
                <a:solidFill>
                  <a:srgbClr val="AAB5BB"/>
                </a:solidFill>
              </a:rPr>
              <a:t>✓  利益关系、适用边界与勘误历史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4B2D3-A6AF-4CFF-9227-31EE8D8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69BF4-C05D-4FB2-937D-623C01EE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数据库 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1C8FF-A716-4DF5-B5D0-20CCDB7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479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我的设备能运行</a:t>
            </a:r>
          </a:p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什么模型？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0D1B8-B23F-49F9-BFAF-4EE6F54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5143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1AB6F-DAD0-4C39-B593-25F8217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7A3D"/>
                </a:solidFill>
              </a:defRPr>
            </a:pPr>
            <a:r>
              <a:rPr sz="900" b="1" i="0">
                <a:solidFill>
                  <a:srgbClr val="FF7A3D"/>
                </a:solidFill>
              </a:rPr>
              <a:t>数据库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B269C-13D0-48AC-878C-6E4619E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这个Agent和模型</a:t>
            </a:r>
          </a:p>
          <a:p xmlns:a="http://schemas.openxmlformats.org/drawingml/2006/main">
            <a:pPr algn="l">
              <a:defRPr sz="2100" b="1" i="0">
                <a:solidFill>
                  <a:srgbClr val="0B1620"/>
                </a:solidFill>
              </a:defRPr>
            </a:pPr>
            <a:r>
              <a:rPr sz="2100" b="1" i="0">
                <a:solidFill>
                  <a:srgbClr val="0B1620"/>
                </a:solidFill>
              </a:rPr>
              <a:t>适合什么引擎与硬件？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B118A-9EF4-48AD-A5B5-99231DEF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LOCAL AI CLUB  /  社区建设汇报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FF689-63F1-4535-A904-CF9F8CA6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0165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FB9FE-9865-4054-8827-79228C49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组织与运营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F841D-8A7F-4856-B488-A5FD819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治理上坚持技术中立，运营上形成可持续闭环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FB74B-4737-460B-8FEB-A974835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公共内容保持开放，专业服务支持社区长期运行。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C4934-49E5-4400-8F5E-7DA17A3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C2F11-5043-4427-8249-AE45C96B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620"/>
                </a:solidFill>
              </a:defRPr>
            </a:pPr>
            <a:r>
              <a:rPr sz="2025" b="1" i="0">
                <a:solidFill>
                  <a:srgbClr val="0B1620"/>
                </a:solidFill>
              </a:rPr>
              <a:t>治理底线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24193-EA68-4300-A0DA-048A80E9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620"/>
                </a:solidFill>
              </a:defRPr>
            </a:pPr>
            <a:r>
              <a:rPr sz="2025" b="1" i="0">
                <a:solidFill>
                  <a:srgbClr val="0B1620"/>
                </a:solidFill>
              </a:rPr>
              <a:t>可持续方式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F883-5B60-484B-B83D-DC88919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CFD9C-AA13-4688-94B7-461A8AE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68A50-F5A1-4A8B-8D90-8DAB946C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不绑定单一模型、引擎或硬件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E4CDC-9D2D-4B44-BBE5-62BBE2F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25DEC-EF24-4818-91EE-98836FD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企业会员与年度赞助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82727-42ED-432E-BB6E-397C2C13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26944-2807-4831-A480-EF7CAFA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评测方法、脚本与原始数据开放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341F2-1794-4E68-8F1B-647A0836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4DD01-2046-41AB-84A1-CD598CB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课题悬赏管理与联合研究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6B39E-A183-4137-8CED-6A127EE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B944E-BAE5-44B8-B217-AFD33FA5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赞助关系与利益冲突主动披露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5F03B-3760-4AC3-A598-B5728F8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E3A7A-7C18-442A-A2A3-93F4053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专业课程、训练营和企业培训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F8889-0568-4750-B12A-51A04779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FB53E-A3BD-44BC-8E1F-16710D8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赞助可以支持评测，不能购买结论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65DF3-A839-40B0-ABBD-AC815AC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0F526-3DAE-4134-B191-39B91B6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联合实验室、适配计划与认证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0ECF2-6502-4323-89A0-9A1D4CE8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B85A"/>
                </a:solidFill>
              </a:defRPr>
            </a:pPr>
            <a:r>
              <a:rPr sz="1200" b="1" i="0">
                <a:solidFill>
                  <a:srgbClr val="22B85A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0BB02C-9F32-4B6B-A87F-95B9FDE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建立勘误、版本、行为准则和仲裁机制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659A5-A68C-4C96-8B24-4DF922A7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0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3D"/>
                </a:solidFill>
              </a:defRPr>
            </a:pPr>
            <a:r>
              <a:rPr sz="1200" b="1" i="0">
                <a:solidFill>
                  <a:srgbClr val="FF7A3D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FA620-9589-4EB7-B616-69A104C7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620"/>
                </a:solidFill>
              </a:defRPr>
            </a:pPr>
            <a:r>
              <a:rPr sz="1350" b="0" i="0">
                <a:solidFill>
                  <a:srgbClr val="0B1620"/>
                </a:solidFill>
              </a:rPr>
              <a:t>技术选型、研究报告和行业活动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6268CB-41BD-4D56-94ED-A27A503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2B85A"/>
                </a:solidFill>
              </a:defRPr>
            </a:pPr>
            <a:r>
              <a:rPr sz="1500" b="1" i="0">
                <a:solidFill>
                  <a:srgbClr val="22B85A"/>
                </a:solidFill>
              </a:rPr>
              <a:t>建议由天工开物开源基金会承担公共基础设施、资金托管、合规与生态合作。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D3FBC-D9E4-4646-82D8-9DF6C0D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10851-68CC-46F7-9267-018A33F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20917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9B4EE-5352-4AD8-8D62-C601964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实施路径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DC079-BCE6-44B9-986E-6AF4C4F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一年分三阶段：先验证核心闭环，再扩大行业影响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A9D3F-EC9E-4BA8-AF48-3C89074F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每个阶段都以可交付成果为验收标准。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8F691-70CC-47E0-BB53-B57F1E5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67FE-DC88-44F5-9326-CC25C7C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902C0-F9F6-4AE2-887C-9BE05A2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0B121-8EAF-43F2-B9D5-B9580EEF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2B85A"/>
                </a:solidFill>
              </a:defRPr>
            </a:pPr>
            <a:r>
              <a:rPr sz="1275" b="1" i="0">
                <a:solidFill>
                  <a:srgbClr val="22B85A"/>
                </a:solidFill>
              </a:rPr>
              <a:t>0—3个月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BD748-7674-48FE-B771-600878C4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MVP上线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2E3C0-7F79-429E-A78A-3D6EF3E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66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50篇基础内容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30个项目档案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20个Agent档案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10组开放评测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首批5项悬赏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1C09A-B07D-4D7C-852A-F18EF73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98726-C9C3-436D-ACE0-54CA8F7E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7A3D"/>
                </a:solidFill>
              </a:defRPr>
            </a:pPr>
            <a:r>
              <a:rPr sz="1275" b="1" i="0">
                <a:solidFill>
                  <a:srgbClr val="FF7A3D"/>
                </a:solidFill>
              </a:rPr>
              <a:t>3—6个月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B8ECE-2C20-490A-BD01-55B4CD3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形成协作机制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4601B-2968-4055-B4CA-F5FD90E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66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评测规范与技术图谱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兼容数据库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Agent参考架构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专题工作组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首期训练营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88DEF-36A0-4B27-94B7-1668E23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47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65BF4-6FD7-4853-B95B-0B0A4C26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A8FF"/>
                </a:solidFill>
              </a:defRPr>
            </a:pPr>
            <a:r>
              <a:rPr sz="1275" b="1" i="0">
                <a:solidFill>
                  <a:srgbClr val="55A8FF"/>
                </a:solidFill>
              </a:rPr>
              <a:t>6—12个月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77E0D-1B20-4FAF-BEA7-17AF0D2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81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620"/>
                </a:solidFill>
              </a:defRPr>
            </a:pPr>
            <a:r>
              <a:rPr sz="1875" b="1" i="0">
                <a:solidFill>
                  <a:srgbClr val="0B1620"/>
                </a:solidFill>
              </a:rPr>
              <a:t>形成行业影响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8C57C-58A8-4F11-98B0-9796A74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66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年度发展报告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大会或挑战赛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联合实验室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高校与城市节点</a:t>
            </a:r>
          </a:p>
          <a:p xmlns:a="http://schemas.openxmlformats.org/drawingml/2006/main">
            <a:pPr algn="l">
              <a:defRPr sz="1275" b="0" i="0">
                <a:solidFill>
                  <a:srgbClr val="5D696F"/>
                </a:solidFill>
              </a:defRPr>
            </a:pPr>
            <a:r>
              <a:rPr sz="1275" b="0" i="0">
                <a:solidFill>
                  <a:srgbClr val="5D696F"/>
                </a:solidFill>
              </a:rPr>
              <a:t>• 成果进入上游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18B2A-4DAE-4F5C-B665-EE9730A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F6032-0F0B-45C7-9FAF-46872F94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CFF6B"/>
                </a:solidFill>
              </a:defRPr>
            </a:pPr>
            <a:r>
              <a:rPr sz="1425" b="1" i="0">
                <a:solidFill>
                  <a:srgbClr val="8CFF6B"/>
                </a:solidFill>
              </a:rPr>
              <a:t>第一阶段验收：用户能够完成设备选型，并进入教程、评测、项目、Agent或悬赏。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0D270-B0BA-4FAA-AD36-118E4AF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9A29F-0C77-41AD-85FE-087BA8F0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1111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67270-B73B-48CC-A886-4595C42D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FF6B"/>
                </a:solidFill>
              </a:defRPr>
            </a:pPr>
            <a:r>
              <a:rPr sz="900" b="1" i="0">
                <a:solidFill>
                  <a:srgbClr val="8CFF6B"/>
                </a:solidFill>
              </a:rPr>
              <a:t>FIRST-YEAR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29342-BDB3-4661-8325-43E961C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首年用公共成果衡量成败，而不是只看访问量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7B3AB-5DE5-42F8-BE05-D652587C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E3102-AFCC-4009-A083-27FAA78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620"/>
                </a:solidFill>
              </a:defRPr>
            </a:pPr>
            <a:r>
              <a:rPr sz="1050" b="1" i="0">
                <a:solidFill>
                  <a:srgbClr val="0B1620"/>
                </a:solidFill>
              </a:rPr>
              <a:t>北极星指标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2B44A-F565-4BDF-8DEA-91B3302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620"/>
                </a:solidFill>
              </a:defRPr>
            </a:pPr>
            <a:r>
              <a:rPr sz="2025" b="1" i="0">
                <a:solidFill>
                  <a:srgbClr val="0B1620"/>
                </a:solidFill>
              </a:rPr>
              <a:t>每月产生有效公共技术成果的活跃贡献者人数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E5BD3-0085-4C6F-9EC6-21BED1FC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5F83B-8B3A-4A83-9950-9535EFF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月度活跃贡献者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823BA-4D98-4992-AF74-4A1643A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194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D3DAC-DEDD-4401-A3DD-0F8AD7C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200篇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44C0C-3A7D-441F-AC92-48E25DC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43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原创技术内容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19547-6B21-480A-8760-7D43E335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194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5EB21-839E-4A24-9500-B1AF7BA8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100个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25322-997B-4BDB-A701-40CFB3E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43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结构化项目档案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85283-7863-4AC2-87CB-9E4DDDE0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AD8BFF"/>
                </a:solidFill>
              </a:defRPr>
            </a:pPr>
            <a:r>
              <a:rPr sz="2700" b="1" i="0">
                <a:solidFill>
                  <a:srgbClr val="AD8BFF"/>
                </a:solidFill>
              </a:rPr>
              <a:t>50个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2F9D1-5471-47B1-95F7-28805A69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企业级Agent档案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65518-88AF-4E8A-9AFB-EAB52799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64C08-ED77-449F-B155-0B20F2B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100组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C806A-57BB-4976-A8CE-B19ADADB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00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可复现实测数据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335FB-880D-4890-B839-8D356F0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E4185-B7EE-464B-A1EF-396100E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7A3D"/>
                </a:solidFill>
              </a:defRPr>
            </a:pPr>
            <a:r>
              <a:rPr sz="2700" b="1" i="0">
                <a:solidFill>
                  <a:srgbClr val="FF7A3D"/>
                </a:solidFill>
              </a:rPr>
              <a:t>30项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FD8BF-F350-45B5-8F07-FF046F9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00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5BB"/>
                </a:solidFill>
              </a:defRPr>
            </a:pPr>
            <a:r>
              <a:rPr sz="1200" b="0" i="0">
                <a:solidFill>
                  <a:srgbClr val="AAB5BB"/>
                </a:solidFill>
              </a:rPr>
              <a:t>公开悬赏任务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8A2FF-B995-402F-8835-44D00B7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FF6B"/>
                </a:solidFill>
              </a:defRPr>
            </a:pPr>
            <a:r>
              <a:rPr sz="1500" b="1" i="0">
                <a:solidFill>
                  <a:srgbClr val="8CFF6B"/>
                </a:solidFill>
              </a:rPr>
              <a:t>合作目标：10所高校  ·  20家企业  ·  5门体系化课程  ·  10项完成验收的开源成果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D467E-59EC-4575-9CA2-07F5AC7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LOCAL AI CLUB  /  社区建设汇报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487B1-6C46-4EF1-B733-D799D122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1818A"/>
                </a:solidFill>
              </a:defRPr>
            </a:pPr>
            <a:r>
              <a:rPr sz="750" b="1" i="0">
                <a:solidFill>
                  <a:srgbClr val="71818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770592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949A9-C39F-464F-AB63-18286475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B85A"/>
                </a:solidFill>
              </a:defRPr>
            </a:pPr>
            <a:r>
              <a:rPr sz="900" b="1" i="0">
                <a:solidFill>
                  <a:srgbClr val="22B85A"/>
                </a:solidFill>
              </a:rPr>
              <a:t>建议决策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D8AAF-9205-40D2-BE89-963D1FE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620"/>
                </a:solidFill>
              </a:defRPr>
            </a:pPr>
            <a:r>
              <a:rPr sz="2850" b="1" i="0">
                <a:solidFill>
                  <a:srgbClr val="0B1620"/>
                </a:solidFill>
              </a:rPr>
              <a:t>建议批准启动 Local AI Club 90天MVP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20093-B222-47DE-8119-EEF01DE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用一个小而完整的版本验证定位、用户需求和协作机制。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695D4-8A62-4741-92E3-2DD761E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945EE-69AB-410D-98CF-310AD6F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2B85A"/>
                </a:solidFill>
              </a:defRPr>
            </a:pPr>
            <a:r>
              <a:rPr sz="1500" b="1" i="0">
                <a:solidFill>
                  <a:srgbClr val="22B85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C32BF-06B6-42C7-96AB-89B38B0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620"/>
                </a:solidFill>
              </a:defRPr>
            </a:pPr>
            <a:r>
              <a:rPr sz="1725" b="1" i="0">
                <a:solidFill>
                  <a:srgbClr val="0B1620"/>
                </a:solidFill>
              </a:rPr>
              <a:t>确认定位与品牌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C442B-A8A3-45D2-8D33-B49A08F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33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local-ai.club；聚焦Local AI与企业级Agent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911A3-6299-472E-9593-CD482ED6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8FC0F-E520-46FB-A36C-57B5B9D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7A3D"/>
                </a:solidFill>
              </a:defRPr>
            </a:pPr>
            <a:r>
              <a:rPr sz="1500" b="1" i="0">
                <a:solidFill>
                  <a:srgbClr val="FF7A3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BEFC4-8B25-49A6-9E6B-14D64CC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38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620"/>
                </a:solidFill>
              </a:defRPr>
            </a:pPr>
            <a:r>
              <a:rPr sz="1725" b="1" i="0">
                <a:solidFill>
                  <a:srgbClr val="0B1620"/>
                </a:solidFill>
              </a:rPr>
              <a:t>明确主导机制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DC568-F20C-4612-B79E-2F90DD9C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基金会牵头，技术委员会与工作组共治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D4853-FDCF-4A5F-A6F9-50C90F0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3028B-AAC8-4FB9-9F28-959FD214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5A8FF"/>
                </a:solidFill>
              </a:defRPr>
            </a:pPr>
            <a:r>
              <a:rPr sz="1500" b="1" i="0">
                <a:solidFill>
                  <a:srgbClr val="55A8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66F13-A4CD-4ECE-A641-DB3E025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62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620"/>
                </a:solidFill>
              </a:defRPr>
            </a:pPr>
            <a:r>
              <a:rPr sz="1725" b="1" i="0">
                <a:solidFill>
                  <a:srgbClr val="0B1620"/>
                </a:solidFill>
              </a:rPr>
              <a:t>配置启动团队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56CB3-AFD4-428D-9AEF-04E2B0E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81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3—5人核心团队，招募20名发起贡献者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06BE5-60CF-46A9-9752-F59055E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AB820-C0BF-4F23-B8FA-EC29D9C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D8BFF"/>
                </a:solidFill>
              </a:defRPr>
            </a:pPr>
            <a:r>
              <a:rPr sz="1500" b="1" i="0">
                <a:solidFill>
                  <a:srgbClr val="AD8B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D819E-AAE4-4CE7-8938-6FED186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620"/>
                </a:solidFill>
              </a:defRPr>
            </a:pPr>
            <a:r>
              <a:rPr sz="1725" b="1" i="0">
                <a:solidFill>
                  <a:srgbClr val="0B1620"/>
                </a:solidFill>
              </a:rPr>
              <a:t>协调首批伙伴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10DDA-15F0-450C-BCA9-D60618D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高校、开源项目、企业与硬件厂商共同参与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5C741-E36F-4AB0-B294-E9CC092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28C9A-5AB9-4762-BDFB-1F0D1EAC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2B85A"/>
                </a:solidFill>
              </a:defRPr>
            </a:pPr>
            <a:r>
              <a:rPr sz="1500" b="1" i="0">
                <a:solidFill>
                  <a:srgbClr val="22B85A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096EE-AF38-4CF3-B45A-6E71F166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10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620"/>
                </a:solidFill>
              </a:defRPr>
            </a:pPr>
            <a:r>
              <a:rPr sz="1725" b="1" i="0">
                <a:solidFill>
                  <a:srgbClr val="0B1620"/>
                </a:solidFill>
              </a:rPr>
              <a:t>启动公共成果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43973-A0C6-41D1-8904-5E6F06B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2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6F"/>
                </a:solidFill>
              </a:defRPr>
            </a:pPr>
            <a:r>
              <a:rPr sz="1350" b="0" i="0">
                <a:solidFill>
                  <a:srgbClr val="5D696F"/>
                </a:solidFill>
              </a:rPr>
              <a:t>首批内容、评测、Agent档案和5项悬赏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DE6CD-D7C5-4B02-B8C2-B4714E4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E281E-9262-4EA4-9297-F698B99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43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8CFF6B"/>
                </a:solidFill>
              </a:defRPr>
            </a:pPr>
            <a:r>
              <a:rPr sz="1350" b="1" i="0">
                <a:solidFill>
                  <a:srgbClr val="8CFF6B"/>
                </a:solidFill>
              </a:rPr>
              <a:t>目标：建设中国 Local AI 领域的公共知识库、开放评测基础设施和项目协作网络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E0435-BE4D-4A15-AAF8-C0CE4D71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LOCAL AI CLUB  /  社区建设汇报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73117-1827-49CD-A549-E71C559A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B858A"/>
                </a:solidFill>
              </a:defRPr>
            </a:pPr>
            <a:r>
              <a:rPr sz="750" b="1" i="0">
                <a:solidFill>
                  <a:srgbClr val="7B858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0923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2026-08-24T03:15:48.6800000Z</dcterms:created>
  <dcterms:modified xsi:type="dcterms:W3CDTF">2026-08-24T03:15:48.6800000Z</dcterms:modified>
</coreProperties>
</file>